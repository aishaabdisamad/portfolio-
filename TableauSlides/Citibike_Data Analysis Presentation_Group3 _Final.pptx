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League Gothic" pitchFamily="2" charset="77"/>
      <p:regular r:id="rId9"/>
    </p:embeddedFont>
    <p:embeddedFont>
      <p:font typeface="Muli" pitchFamily="2" charset="77"/>
      <p:regular r:id="rId10"/>
    </p:embeddedFont>
    <p:embeddedFont>
      <p:font typeface="Muli Bold" pitchFamily="2" charset="77"/>
      <p:regular r:id="rId11"/>
      <p:bold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30" autoAdjust="0"/>
    <p:restoredTop sz="94643" autoAdjust="0"/>
  </p:normalViewPr>
  <p:slideViewPr>
    <p:cSldViewPr>
      <p:cViewPr varScale="1">
        <p:scale>
          <a:sx n="76" d="100"/>
          <a:sy n="76" d="100"/>
        </p:scale>
        <p:origin x="456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85" b="-16585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2314586" y="4302166"/>
            <a:ext cx="13658828" cy="3523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60"/>
              </a:lnSpc>
            </a:pPr>
            <a:r>
              <a:rPr lang="en-US" sz="23878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CITIBIKE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11958" y="8937769"/>
            <a:ext cx="5264084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800" spc="379" dirty="0">
                <a:solidFill>
                  <a:srgbClr val="FFDE59"/>
                </a:solidFill>
                <a:latin typeface="Muli"/>
                <a:ea typeface="Muli"/>
                <a:cs typeface="Muli"/>
                <a:sym typeface="Muli"/>
              </a:rPr>
              <a:t>2 APRIL 2025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53633" y="3561233"/>
            <a:ext cx="8380734" cy="626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7"/>
              </a:lnSpc>
            </a:pPr>
            <a:r>
              <a:rPr lang="en-US" sz="3598" spc="539">
                <a:solidFill>
                  <a:srgbClr val="FFDE59"/>
                </a:solidFill>
                <a:latin typeface="Muli"/>
                <a:ea typeface="Muli"/>
                <a:cs typeface="Muli"/>
                <a:sym typeface="Muli"/>
              </a:rPr>
              <a:t>DATA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09030" y="2162588"/>
            <a:ext cx="9483198" cy="7675481"/>
          </a:xfrm>
          <a:custGeom>
            <a:avLst/>
            <a:gdLst/>
            <a:ahLst/>
            <a:cxnLst/>
            <a:rect l="l" t="t" r="r" b="b"/>
            <a:pathLst>
              <a:path w="9483198" h="7675481">
                <a:moveTo>
                  <a:pt x="0" y="0"/>
                </a:moveTo>
                <a:lnTo>
                  <a:pt x="9483199" y="0"/>
                </a:lnTo>
                <a:lnTo>
                  <a:pt x="9483199" y="7675481"/>
                </a:lnTo>
                <a:lnTo>
                  <a:pt x="0" y="76754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000"/>
            </a:blip>
            <a:stretch>
              <a:fillRect l="-586" r="-58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629980" y="511416"/>
            <a:ext cx="6629320" cy="2917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2"/>
              </a:lnSpc>
            </a:pPr>
            <a:r>
              <a:rPr lang="en-US" sz="2305" b="1" spc="345" dirty="0">
                <a:solidFill>
                  <a:srgbClr val="FFDE59"/>
                </a:solidFill>
                <a:latin typeface="Muli Bold"/>
                <a:ea typeface="Muli Bold"/>
                <a:cs typeface="Muli Bold"/>
                <a:sym typeface="Muli Bold"/>
              </a:rPr>
              <a:t>CITIBIKE IS NYC'S LIFELINE FOR SHORT-DISTANCE TRAVEL. BUT WHEN EXACTLY DO PEOPLE RIDE? UNDERSTANDING DAILY PATTERNS COULD MAKE OR BREAK OPERATIONS.</a:t>
            </a:r>
          </a:p>
          <a:p>
            <a:pPr algn="ctr">
              <a:lnSpc>
                <a:spcPts val="3342"/>
              </a:lnSpc>
            </a:pPr>
            <a:endParaRPr lang="en-US" sz="2305" b="1" spc="345" dirty="0">
              <a:solidFill>
                <a:srgbClr val="FFDE59"/>
              </a:solidFill>
              <a:latin typeface="Muli Bold"/>
              <a:ea typeface="Muli Bold"/>
              <a:cs typeface="Muli Bold"/>
              <a:sym typeface="Muli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12343" y="688048"/>
            <a:ext cx="5985375" cy="1217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13"/>
              </a:lnSpc>
            </a:pPr>
            <a:r>
              <a:rPr lang="en-US" sz="8185" dirty="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CONTEXT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95234" y="8282094"/>
            <a:ext cx="6629320" cy="1241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2"/>
              </a:lnSpc>
            </a:pPr>
            <a:r>
              <a:rPr lang="en-US" sz="2305" b="1" spc="345">
                <a:solidFill>
                  <a:srgbClr val="FFDE59"/>
                </a:solidFill>
                <a:latin typeface="Muli Bold"/>
                <a:ea typeface="Muli Bold"/>
                <a:cs typeface="Muli Bold"/>
                <a:sym typeface="Muli Bold"/>
              </a:rPr>
              <a:t>OUR GOAL: HELP CITIBIKE OPERATE SMARTER.</a:t>
            </a:r>
          </a:p>
          <a:p>
            <a:pPr algn="ctr">
              <a:lnSpc>
                <a:spcPts val="3342"/>
              </a:lnSpc>
            </a:pPr>
            <a:endParaRPr lang="en-US" sz="2305" b="1" spc="345">
              <a:solidFill>
                <a:srgbClr val="FFDE59"/>
              </a:solidFill>
              <a:latin typeface="Muli Bold"/>
              <a:ea typeface="Muli Bold"/>
              <a:cs typeface="Muli Bold"/>
              <a:sym typeface="Muli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2108396" y="3892576"/>
            <a:ext cx="3672489" cy="3672489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D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09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388738" y="4778354"/>
            <a:ext cx="3111805" cy="2279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5"/>
              </a:lnSpc>
            </a:pPr>
            <a:r>
              <a:rPr lang="en-US" sz="2146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“</a:t>
            </a:r>
            <a:r>
              <a:rPr lang="en-US" sz="2146" b="1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Now that we know Citi Bikes are essential for short trips, when exactly do people ride the most?”</a:t>
            </a:r>
          </a:p>
          <a:p>
            <a:pPr algn="l">
              <a:lnSpc>
                <a:spcPts val="3005"/>
              </a:lnSpc>
            </a:pPr>
            <a:endParaRPr lang="en-US" sz="2146" b="1">
              <a:solidFill>
                <a:srgbClr val="FFFFFF"/>
              </a:solidFill>
              <a:latin typeface="Muli Bold"/>
              <a:ea typeface="Muli Bold"/>
              <a:cs typeface="Muli Bold"/>
              <a:sym typeface="Muli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">
            <a:off x="-79663" y="-142993"/>
            <a:ext cx="18447325" cy="10572986"/>
          </a:xfrm>
          <a:custGeom>
            <a:avLst/>
            <a:gdLst/>
            <a:ahLst/>
            <a:cxnLst/>
            <a:rect l="l" t="t" r="r" b="b"/>
            <a:pathLst>
              <a:path w="18447325" h="10572986">
                <a:moveTo>
                  <a:pt x="0" y="287255"/>
                </a:moveTo>
                <a:lnTo>
                  <a:pt x="18285744" y="0"/>
                </a:lnTo>
                <a:lnTo>
                  <a:pt x="18447326" y="10285731"/>
                </a:lnTo>
                <a:lnTo>
                  <a:pt x="161582" y="10572986"/>
                </a:lnTo>
                <a:lnTo>
                  <a:pt x="0" y="287255"/>
                </a:lnTo>
                <a:close/>
              </a:path>
            </a:pathLst>
          </a:custGeom>
          <a:blipFill>
            <a:blip r:embed="rId2"/>
            <a:stretch>
              <a:fillRect t="-12557" r="-146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170535" y="1271579"/>
            <a:ext cx="10839908" cy="8677710"/>
          </a:xfrm>
          <a:custGeom>
            <a:avLst/>
            <a:gdLst/>
            <a:ahLst/>
            <a:cxnLst/>
            <a:rect l="l" t="t" r="r" b="b"/>
            <a:pathLst>
              <a:path w="10839908" h="8677710">
                <a:moveTo>
                  <a:pt x="0" y="0"/>
                </a:moveTo>
                <a:lnTo>
                  <a:pt x="10839908" y="0"/>
                </a:lnTo>
                <a:lnTo>
                  <a:pt x="10839908" y="8677710"/>
                </a:lnTo>
                <a:lnTo>
                  <a:pt x="0" y="86777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1000"/>
            </a:blip>
            <a:stretch>
              <a:fillRect t="-91" b="-9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0" y="413740"/>
            <a:ext cx="6233709" cy="2404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13"/>
              </a:lnSpc>
            </a:pPr>
            <a:r>
              <a:rPr lang="en-US" sz="8185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SYSTEM USAGE BY HOUR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55466" y="7763402"/>
            <a:ext cx="6629320" cy="2079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2"/>
              </a:lnSpc>
            </a:pPr>
            <a:r>
              <a:rPr lang="en-US" sz="2305" b="1" spc="345">
                <a:solidFill>
                  <a:srgbClr val="FFD900"/>
                </a:solidFill>
                <a:latin typeface="Muli Bold"/>
                <a:ea typeface="Muli Bold"/>
                <a:cs typeface="Muli Bold"/>
                <a:sym typeface="Muli Bold"/>
              </a:rPr>
              <a:t>WHAT STANDS OUT IS THE QUIET WINDOW BETWEEN 1 AM AND 5 AM. THIS LOW ACTIVITY PERIOD IS IDEAL FOR SYSTEM MAINTENANCE OR UPDATES.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51" b="-915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18421" y="1998820"/>
            <a:ext cx="9932340" cy="7994458"/>
          </a:xfrm>
          <a:custGeom>
            <a:avLst/>
            <a:gdLst/>
            <a:ahLst/>
            <a:cxnLst/>
            <a:rect l="l" t="t" r="r" b="b"/>
            <a:pathLst>
              <a:path w="9932340" h="7994458">
                <a:moveTo>
                  <a:pt x="0" y="0"/>
                </a:moveTo>
                <a:lnTo>
                  <a:pt x="9932341" y="0"/>
                </a:lnTo>
                <a:lnTo>
                  <a:pt x="9932341" y="7994458"/>
                </a:lnTo>
                <a:lnTo>
                  <a:pt x="0" y="79944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000"/>
            </a:blip>
            <a:stretch>
              <a:fillRect l="-542" r="-54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31673" y="487955"/>
            <a:ext cx="9976452" cy="1217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13"/>
              </a:lnSpc>
            </a:pPr>
            <a:r>
              <a:rPr lang="en-US" sz="8185" dirty="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WEEKDAY VS WEEKEND PATTERNS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845651" y="2929164"/>
            <a:ext cx="6413649" cy="6133771"/>
            <a:chOff x="0" y="0"/>
            <a:chExt cx="812800" cy="7773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777331"/>
            </a:xfrm>
            <a:custGeom>
              <a:avLst/>
              <a:gdLst/>
              <a:ahLst/>
              <a:cxnLst/>
              <a:rect l="l" t="t" r="r" b="b"/>
              <a:pathLst>
                <a:path w="812800" h="777331">
                  <a:moveTo>
                    <a:pt x="406400" y="0"/>
                  </a:moveTo>
                  <a:cubicBezTo>
                    <a:pt x="181951" y="0"/>
                    <a:pt x="0" y="174012"/>
                    <a:pt x="0" y="388666"/>
                  </a:cubicBezTo>
                  <a:cubicBezTo>
                    <a:pt x="0" y="603320"/>
                    <a:pt x="181951" y="777331"/>
                    <a:pt x="406400" y="777331"/>
                  </a:cubicBezTo>
                  <a:cubicBezTo>
                    <a:pt x="630849" y="777331"/>
                    <a:pt x="812800" y="603320"/>
                    <a:pt x="812800" y="388666"/>
                  </a:cubicBezTo>
                  <a:cubicBezTo>
                    <a:pt x="812800" y="17401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D314">
                <a:alpha val="87843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-22375"/>
              <a:ext cx="660400" cy="7268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09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730759" y="3903442"/>
            <a:ext cx="4643433" cy="4128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9"/>
              </a:lnSpc>
            </a:pPr>
            <a:r>
              <a:rPr lang="en-US" sz="2964" b="1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“Recognizing these patterns helps Citi Bike optimize bike availability by redistributing bikes based on daily demand, ensuring they are placed where they’re needed most.”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13" y="500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151" b="-915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93899" y="5945842"/>
            <a:ext cx="10039979" cy="3978342"/>
          </a:xfrm>
          <a:custGeom>
            <a:avLst/>
            <a:gdLst/>
            <a:ahLst/>
            <a:cxnLst/>
            <a:rect l="l" t="t" r="r" b="b"/>
            <a:pathLst>
              <a:path w="10039979" h="3978342">
                <a:moveTo>
                  <a:pt x="0" y="0"/>
                </a:moveTo>
                <a:lnTo>
                  <a:pt x="10039979" y="0"/>
                </a:lnTo>
                <a:lnTo>
                  <a:pt x="10039979" y="3978342"/>
                </a:lnTo>
                <a:lnTo>
                  <a:pt x="0" y="39783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000"/>
            </a:blip>
            <a:stretch>
              <a:fillRect t="-44" b="-4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93899" y="1890399"/>
            <a:ext cx="10039979" cy="3821411"/>
          </a:xfrm>
          <a:custGeom>
            <a:avLst/>
            <a:gdLst/>
            <a:ahLst/>
            <a:cxnLst/>
            <a:rect l="l" t="t" r="r" b="b"/>
            <a:pathLst>
              <a:path w="10039979" h="3821411">
                <a:moveTo>
                  <a:pt x="0" y="0"/>
                </a:moveTo>
                <a:lnTo>
                  <a:pt x="10039979" y="0"/>
                </a:lnTo>
                <a:lnTo>
                  <a:pt x="10039979" y="3821410"/>
                </a:lnTo>
                <a:lnTo>
                  <a:pt x="0" y="3821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-276258" y="507337"/>
            <a:ext cx="9420258" cy="1214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413"/>
              </a:lnSpc>
            </a:pPr>
            <a:r>
              <a:rPr lang="en-US" sz="8185" dirty="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 CUSTOMER BEHAVIOR HEATMAP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4130006" y="637901"/>
            <a:ext cx="3848294" cy="3680363"/>
            <a:chOff x="0" y="0"/>
            <a:chExt cx="812800" cy="7773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77331"/>
            </a:xfrm>
            <a:custGeom>
              <a:avLst/>
              <a:gdLst/>
              <a:ahLst/>
              <a:cxnLst/>
              <a:rect l="l" t="t" r="r" b="b"/>
              <a:pathLst>
                <a:path w="812800" h="777331">
                  <a:moveTo>
                    <a:pt x="406400" y="0"/>
                  </a:moveTo>
                  <a:cubicBezTo>
                    <a:pt x="181951" y="0"/>
                    <a:pt x="0" y="174012"/>
                    <a:pt x="0" y="388666"/>
                  </a:cubicBezTo>
                  <a:cubicBezTo>
                    <a:pt x="0" y="603320"/>
                    <a:pt x="181951" y="777331"/>
                    <a:pt x="406400" y="777331"/>
                  </a:cubicBezTo>
                  <a:cubicBezTo>
                    <a:pt x="630849" y="777331"/>
                    <a:pt x="812800" y="603320"/>
                    <a:pt x="812800" y="388666"/>
                  </a:cubicBezTo>
                  <a:cubicBezTo>
                    <a:pt x="812800" y="17401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D314">
                <a:alpha val="87843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-22375"/>
              <a:ext cx="660400" cy="7268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09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4402279" y="1507582"/>
            <a:ext cx="3303748" cy="1902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2"/>
              </a:lnSpc>
            </a:pPr>
            <a:r>
              <a:rPr lang="en-US" sz="1518" b="1" spc="227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UNLIKE SUBSCRIBERS, CUSTOMERS AVOID PEAK COMMUTE HOURS, SUGGESTING THAT THEIR RIDES ARE MORE SPREAD OUT AND LESS PREDICTABLE.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814716" y="4752701"/>
            <a:ext cx="5119815" cy="4896397"/>
            <a:chOff x="0" y="0"/>
            <a:chExt cx="812800" cy="7773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777331"/>
            </a:xfrm>
            <a:custGeom>
              <a:avLst/>
              <a:gdLst/>
              <a:ahLst/>
              <a:cxnLst/>
              <a:rect l="l" t="t" r="r" b="b"/>
              <a:pathLst>
                <a:path w="812800" h="777331">
                  <a:moveTo>
                    <a:pt x="406400" y="0"/>
                  </a:moveTo>
                  <a:cubicBezTo>
                    <a:pt x="181951" y="0"/>
                    <a:pt x="0" y="174012"/>
                    <a:pt x="0" y="388666"/>
                  </a:cubicBezTo>
                  <a:cubicBezTo>
                    <a:pt x="0" y="603320"/>
                    <a:pt x="181951" y="777331"/>
                    <a:pt x="406400" y="777331"/>
                  </a:cubicBezTo>
                  <a:cubicBezTo>
                    <a:pt x="630849" y="777331"/>
                    <a:pt x="812800" y="603320"/>
                    <a:pt x="812800" y="388666"/>
                  </a:cubicBezTo>
                  <a:cubicBezTo>
                    <a:pt x="812800" y="17401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D314">
                <a:alpha val="87843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-22375"/>
              <a:ext cx="660400" cy="7268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09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176952" y="6094592"/>
            <a:ext cx="4395344" cy="2164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0"/>
              </a:lnSpc>
            </a:pPr>
            <a:r>
              <a:rPr lang="en-US" sz="2020" b="1" spc="303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CUSTOMERS MAY AVOID RUSH HOURS DUE TO HIGH TRAFFIC AND LOWER BIKE AVAILABILITY. INDICATING THEY MOSTLY USE IT FOR LEISUR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08680" y="1959969"/>
            <a:ext cx="8835320" cy="7057212"/>
          </a:xfrm>
          <a:custGeom>
            <a:avLst/>
            <a:gdLst/>
            <a:ahLst/>
            <a:cxnLst/>
            <a:rect l="l" t="t" r="r" b="b"/>
            <a:pathLst>
              <a:path w="8835320" h="7057212">
                <a:moveTo>
                  <a:pt x="0" y="0"/>
                </a:moveTo>
                <a:lnTo>
                  <a:pt x="8835320" y="0"/>
                </a:lnTo>
                <a:lnTo>
                  <a:pt x="8835320" y="7057211"/>
                </a:lnTo>
                <a:lnTo>
                  <a:pt x="0" y="70572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303643" y="1959969"/>
            <a:ext cx="8805526" cy="7022407"/>
          </a:xfrm>
          <a:custGeom>
            <a:avLst/>
            <a:gdLst/>
            <a:ahLst/>
            <a:cxnLst/>
            <a:rect l="l" t="t" r="r" b="b"/>
            <a:pathLst>
              <a:path w="8805526" h="7022407">
                <a:moveTo>
                  <a:pt x="0" y="0"/>
                </a:moveTo>
                <a:lnTo>
                  <a:pt x="8805526" y="0"/>
                </a:lnTo>
                <a:lnTo>
                  <a:pt x="8805526" y="7022407"/>
                </a:lnTo>
                <a:lnTo>
                  <a:pt x="0" y="70224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308680" y="434416"/>
            <a:ext cx="5985375" cy="1217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13"/>
              </a:lnSpc>
            </a:pPr>
            <a:r>
              <a:rPr lang="en-US" sz="8185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INCOME RAISE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665363" y="9475318"/>
            <a:ext cx="13276561" cy="554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5"/>
              </a:lnSpc>
            </a:pPr>
            <a:r>
              <a:rPr lang="en-US" sz="1900" b="1">
                <a:solidFill>
                  <a:srgbClr val="FFDE59"/>
                </a:solidFill>
                <a:latin typeface="Muli Bold"/>
                <a:ea typeface="Muli Bold"/>
                <a:cs typeface="Muli Bold"/>
                <a:sym typeface="Muli Bold"/>
              </a:rPr>
              <a:t>ON WEEKDAYS, WE NEED ENOUGH BIKES FOR COMMUTERS IN THE MORNING AND EVENING. ON WEEKENDS, WE NEED STEADY AVAILABILITY ALL AFTERNOON TO MEET CUSTOMER DEMAND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r="-60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11234526" y="356107"/>
            <a:ext cx="6715709" cy="49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059"/>
              </a:lnSpc>
            </a:pPr>
            <a:r>
              <a:rPr lang="en-US" sz="2799" spc="419">
                <a:solidFill>
                  <a:srgbClr val="FFDE59"/>
                </a:solidFill>
                <a:latin typeface="Muli"/>
                <a:ea typeface="Muli"/>
                <a:cs typeface="Muli"/>
                <a:sym typeface="Muli"/>
              </a:rPr>
              <a:t>CITIBIKE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6691" y="253948"/>
            <a:ext cx="7655641" cy="1217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13"/>
              </a:lnSpc>
            </a:pPr>
            <a:r>
              <a:rPr lang="en-US" sz="8185" dirty="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RECOMMENDATION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146200" y="1164042"/>
            <a:ext cx="2583769" cy="258376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D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959"/>
                </a:lnSpc>
              </a:pPr>
              <a:r>
                <a:rPr lang="en-US" sz="4800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1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358138" y="4102515"/>
            <a:ext cx="4159893" cy="34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4"/>
              </a:lnSpc>
            </a:pPr>
            <a:r>
              <a:rPr lang="en-US" sz="2264" dirty="0">
                <a:solidFill>
                  <a:srgbClr val="FFDE59"/>
                </a:solidFill>
                <a:latin typeface="Muli"/>
                <a:ea typeface="Muli"/>
                <a:cs typeface="Muli"/>
                <a:sym typeface="Muli"/>
              </a:rPr>
              <a:t>MAINTANCE HOURS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62610" y="4639915"/>
            <a:ext cx="5750948" cy="803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6"/>
              </a:lnSpc>
            </a:pPr>
            <a:r>
              <a:rPr lang="en-US" sz="1673" b="1" dirty="0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Schedule maintenance between 1 AM and 5 AM when ridership is lowest, minimizing disruption.</a:t>
            </a:r>
          </a:p>
          <a:p>
            <a:pPr algn="ctr">
              <a:lnSpc>
                <a:spcPts val="2176"/>
              </a:lnSpc>
            </a:pPr>
            <a:endParaRPr lang="en-US" sz="1673" b="1" dirty="0">
              <a:solidFill>
                <a:srgbClr val="FFFFFF"/>
              </a:solidFill>
              <a:latin typeface="Muli Bold"/>
              <a:ea typeface="Muli Bold"/>
              <a:cs typeface="Muli Bold"/>
              <a:sym typeface="Muli Bold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2790617" y="1164042"/>
            <a:ext cx="2583769" cy="2583769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D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959"/>
                </a:lnSpc>
              </a:pPr>
              <a:r>
                <a:rPr lang="en-US" sz="4800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2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002556" y="4102515"/>
            <a:ext cx="4159893" cy="34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4"/>
              </a:lnSpc>
            </a:pPr>
            <a:r>
              <a:rPr lang="en-US" sz="2264">
                <a:solidFill>
                  <a:srgbClr val="FFDE59"/>
                </a:solidFill>
                <a:latin typeface="Muli"/>
                <a:ea typeface="Muli"/>
                <a:cs typeface="Muli"/>
                <a:sym typeface="Muli"/>
              </a:rPr>
              <a:t>TARGTED PROMOTIONS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07028" y="4639915"/>
            <a:ext cx="5750948" cy="107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6"/>
              </a:lnSpc>
            </a:pPr>
            <a:r>
              <a:rPr lang="en-US" sz="1673" b="1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Leverage targeted promotions and flexible pricing to attract more casual riders and maximize off-peak usage.</a:t>
            </a:r>
          </a:p>
          <a:p>
            <a:pPr algn="ctr">
              <a:lnSpc>
                <a:spcPts val="2176"/>
              </a:lnSpc>
            </a:pPr>
            <a:endParaRPr lang="en-US" sz="1673" b="1">
              <a:solidFill>
                <a:srgbClr val="FFFFFF"/>
              </a:solidFill>
              <a:latin typeface="Muli Bold"/>
              <a:ea typeface="Muli Bold"/>
              <a:cs typeface="Muli Bold"/>
              <a:sym typeface="Muli Bold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6023425" y="5799683"/>
            <a:ext cx="2583769" cy="2583769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D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959"/>
                </a:lnSpc>
              </a:pPr>
              <a:r>
                <a:rPr lang="en-US" sz="4800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3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5235363" y="8738156"/>
            <a:ext cx="4527357" cy="34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4"/>
              </a:lnSpc>
            </a:pPr>
            <a:r>
              <a:rPr lang="en-US" sz="2264">
                <a:solidFill>
                  <a:srgbClr val="FFDE59"/>
                </a:solidFill>
                <a:latin typeface="Muli"/>
                <a:ea typeface="Muli"/>
                <a:cs typeface="Muli"/>
                <a:sym typeface="Muli"/>
              </a:rPr>
              <a:t>AVAILAIBILTY AT KEY STATIONS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39835" y="9275557"/>
            <a:ext cx="5750948" cy="803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6"/>
              </a:lnSpc>
            </a:pPr>
            <a:r>
              <a:rPr lang="en-US" sz="1673" b="1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Increase bike availability at key commuter stations during rush hours to meet subscriber demand.</a:t>
            </a:r>
          </a:p>
          <a:p>
            <a:pPr algn="ctr">
              <a:lnSpc>
                <a:spcPts val="2176"/>
              </a:lnSpc>
            </a:pPr>
            <a:endParaRPr lang="en-US" sz="1673" b="1">
              <a:solidFill>
                <a:srgbClr val="FFFFFF"/>
              </a:solidFill>
              <a:latin typeface="Muli Bold"/>
              <a:ea typeface="Muli Bold"/>
              <a:cs typeface="Muli Bold"/>
              <a:sym typeface="Muli Bold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2667842" y="5799683"/>
            <a:ext cx="2583769" cy="2583769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D31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959"/>
                </a:lnSpc>
              </a:pPr>
              <a:r>
                <a:rPr lang="en-US" sz="4800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4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604792" y="8738156"/>
            <a:ext cx="4955420" cy="34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4"/>
              </a:lnSpc>
            </a:pPr>
            <a:r>
              <a:rPr lang="en-US" sz="2264">
                <a:solidFill>
                  <a:srgbClr val="FFDE59"/>
                </a:solidFill>
                <a:latin typeface="Muli"/>
                <a:ea typeface="Muli"/>
                <a:cs typeface="Muli"/>
                <a:sym typeface="Muli"/>
              </a:rPr>
              <a:t>STEADY FLOW FOR CUSTOMERS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084253" y="9275557"/>
            <a:ext cx="5750948" cy="803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6"/>
              </a:lnSpc>
            </a:pPr>
            <a:r>
              <a:rPr lang="en-US" sz="1673" b="1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Maintain a steady flow of bikes for weekend explorers, ensuring tourists and casual riders have easy access.</a:t>
            </a:r>
          </a:p>
          <a:p>
            <a:pPr algn="ctr">
              <a:lnSpc>
                <a:spcPts val="2176"/>
              </a:lnSpc>
            </a:pPr>
            <a:endParaRPr lang="en-US" sz="1673" b="1">
              <a:solidFill>
                <a:srgbClr val="FFFFFF"/>
              </a:solidFill>
              <a:latin typeface="Muli Bold"/>
              <a:ea typeface="Muli Bold"/>
              <a:cs typeface="Muli Bold"/>
              <a:sym typeface="Muli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4023</TotalTime>
  <Words>281</Words>
  <Application>Microsoft Macintosh PowerPoint</Application>
  <PresentationFormat>Custom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League Gothic</vt:lpstr>
      <vt:lpstr>Arial</vt:lpstr>
      <vt:lpstr>Muli</vt:lpstr>
      <vt:lpstr>Calibri</vt:lpstr>
      <vt:lpstr>Muli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Citibike_Data Analysis Presentation_Group3</dc:title>
  <cp:lastModifiedBy>Aisha Abdisamad</cp:lastModifiedBy>
  <cp:revision>6</cp:revision>
  <dcterms:created xsi:type="dcterms:W3CDTF">2006-08-16T00:00:00Z</dcterms:created>
  <dcterms:modified xsi:type="dcterms:W3CDTF">2025-09-10T16:53:29Z</dcterms:modified>
  <dc:identifier>DAGjEkBlt9E</dc:identifier>
</cp:coreProperties>
</file>